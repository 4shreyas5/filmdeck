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</Type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dImg"/>
          <p:cNvSpPr/>
          <p:nvPr>
            <p:ph type="sldImg"/>
          </p:nvPr>
        </p:nvSpPr>
        <p:spPr/>
        <p:txBody>
          <a:bodyPr/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r>
              <a:rPr lang="en-US"/>
              <a:t>Pune is the largest site and the one that breaks first every peak season.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dImg"/>
          <p:cNvSpPr/>
          <p:nvPr>
            <p:ph type="sldImg"/>
          </p:nvPr>
        </p:nvSpPr>
        <p:spPr/>
        <p:txBody>
          <a:bodyPr/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r>
              <a:rPr lang="en-US"/>
              <a:t>Sorting is more than half of the handling time of a batch.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dImg"/>
          <p:cNvSpPr/>
          <p:nvPr>
            <p:ph type="sldImg"/>
          </p:nvPr>
        </p:nvSpPr>
        <p:spPr/>
        <p:txBody>
          <a:bodyPr/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r>
              <a:rPr lang="en-US"/>
              <a:t>The shutdown would have to land outside the peak season.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dImg"/>
          <p:cNvSpPr/>
          <p:nvPr>
            <p:ph type="sldImg"/>
          </p:nvPr>
        </p:nvSpPr>
        <p:spPr/>
        <p:txBody>
          <a:bodyPr/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r>
              <a:rPr lang="en-US"/>
              <a:t>Option B pays back faster even though it saves less time.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dImg"/>
          <p:cNvSpPr/>
          <p:nvPr>
            <p:ph type="sldImg"/>
          </p:nvPr>
        </p:nvSpPr>
        <p:spPr/>
        <p:txBody>
          <a:bodyPr/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r>
              <a:rPr lang="en-US"/>
              <a:t>We are recommending staging the investment rather than betting everything now.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notes>
</file>

<file path=ppt/slides/_rels/slide1.xml.rels><?xml version="1.0" encoding="UTF-8" standalone="yes"?><Relationships xmlns="http://schemas.openxmlformats.org/package/2006/relationships"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trTitle"/>
          <p:cNvSpPr/>
          <p:nvPr>
            <p:ph type="ctrTitle"/>
          </p:nvPr>
        </p:nvSpPr>
        <p:spPr/>
        <p:txBody>
          <a:bodyPr/>
          <a:p>
            <a:r>
              <a:rPr lang="en-US"/>
              <a:t>Should Brightpath automate the Pune warehouse?</a:t>
            </a:r>
          </a:p>
        </p:txBody>
      </p:sp>
      <p:sp>
        <p:nvSpPr>
          <p:cNvPr id="5" name="Text"/>
          <p:cNvSpPr txBox="1"/>
          <p:nvPr/>
        </p:nvSpPr>
        <p:spPr/>
        <p:txBody>
          <a:bodyPr/>
          <a:p>
            <a:r>
              <a:rPr lang="en-US"/>
              <a:t>OPS 640 · Operations Strategy · Group 4</a:t>
            </a:r>
          </a:p>
          <a:p>
            <a:r>
              <a:rPr lang="en-US"/>
              <a:t>A fictional case for class discussion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The situation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Brightpath Logistics runs 6 regional warehouses</a:t>
            </a:r>
          </a:p>
          <a:p>
            <a:pPr>
              <a:buChar char="•"/>
            </a:pPr>
            <a:r>
              <a:rPr lang="en-US"/>
              <a:t>Pune handles 31% of all parcels</a:t>
            </a:r>
          </a:p>
          <a:p>
            <a:pPr>
              <a:buChar char="•"/>
            </a:pPr>
            <a:r>
              <a:rPr lang="en-US"/>
              <a:t>Peak season doubles daily volume to 84,000 parcels</a:t>
            </a:r>
          </a:p>
          <a:p>
            <a:pPr>
              <a:buChar char="•"/>
            </a:pPr>
            <a:r>
              <a:rPr lang="en-US"/>
              <a:t>Manual sorting is the bottleneck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Where the time goes</a:t>
            </a:r>
          </a:p>
        </p:txBody>
      </p:sp>
      <p:graphicFrame>
        <p:nvGraphicFramePr>
          <p:cNvPr id="9" name="Table"/>
          <p:cNvGraphicFramePr/>
          <p:nvPr/>
        </p:nvGraphicFramePr>
        <p:xfrm>
          <a:off x="0" y="0"/>
          <a:ext cx="1" cy="1"/>
        </p:xfrm>
        <a:graphic>
          <a:graphicData uri="http://schemas.openxmlformats.org/drawingml/2006/table">
            <a:tbl>
              <a:tblGrid/>
              <a:tr h="1">
                <a:tc>
                  <a:txBody>
                    <a:bodyPr/>
                    <a:p>
                      <a:r>
                        <a:rPr lang="en-US"/>
                        <a:t>Step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Minutes per parcel batch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Receiving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14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Manual sorting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47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Packing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22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Dispatch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9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The cost of staying manual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Overtime cost last peak: ₹3.8 crore</a:t>
            </a:r>
          </a:p>
          <a:p>
            <a:pPr>
              <a:buChar char="•"/>
            </a:pPr>
            <a:r>
              <a:rPr lang="en-US"/>
              <a:t>Mis-sorted parcels: 2.6% of volume</a:t>
            </a:r>
          </a:p>
          <a:p>
            <a:pPr>
              <a:buChar char="•"/>
            </a:pPr>
            <a:r>
              <a:rPr lang="en-US"/>
              <a:t>Late deliveries rose from 4% to 11% in peak weeks</a:t>
            </a:r>
          </a:p>
          <a:p>
            <a:pPr>
              <a:buChar char="•"/>
            </a:pPr>
            <a:r>
              <a:rPr lang="en-US"/>
              <a:t>Two large clients issued formal warnings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Option A: full automation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Capital cost ₹46 crore over 3 years</a:t>
            </a:r>
          </a:p>
          <a:p>
            <a:pPr>
              <a:buChar char="•"/>
            </a:pPr>
            <a:r>
              <a:rPr lang="en-US"/>
              <a:t>Cuts sorting time by about 70%</a:t>
            </a:r>
          </a:p>
          <a:p>
            <a:pPr>
              <a:buChar char="•"/>
            </a:pPr>
            <a:r>
              <a:rPr lang="en-US"/>
              <a:t>Needs a 9-week shutdown of the sorting hall</a:t>
            </a:r>
          </a:p>
          <a:p>
            <a:pPr>
              <a:buChar char="•"/>
            </a:pPr>
            <a:r>
              <a:rPr lang="en-US"/>
              <a:t>Requires retraining 120 staff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Option B: semi-automated sorting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Capital cost ₹18 crore</a:t>
            </a:r>
          </a:p>
          <a:p>
            <a:pPr>
              <a:buChar char="•"/>
            </a:pPr>
            <a:r>
              <a:rPr lang="en-US"/>
              <a:t>Cuts sorting time by about 40%</a:t>
            </a:r>
          </a:p>
          <a:p>
            <a:pPr>
              <a:buChar char="•"/>
            </a:pPr>
            <a:r>
              <a:rPr lang="en-US"/>
              <a:t>Installed zone by zone with no full shutdown</a:t>
            </a:r>
          </a:p>
          <a:p>
            <a:pPr>
              <a:buChar char="•"/>
            </a:pPr>
            <a:r>
              <a:rPr lang="en-US"/>
              <a:t>Retraining needed for 45 staff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Comparing the options</a:t>
            </a:r>
          </a:p>
        </p:txBody>
      </p:sp>
      <p:graphicFrame>
        <p:nvGraphicFramePr>
          <p:cNvPr id="9" name="Table"/>
          <p:cNvGraphicFramePr/>
          <p:nvPr/>
        </p:nvGraphicFramePr>
        <p:xfrm>
          <a:off x="0" y="0"/>
          <a:ext cx="1" cy="1"/>
        </p:xfrm>
        <a:graphic>
          <a:graphicData uri="http://schemas.openxmlformats.org/drawingml/2006/table">
            <a:tbl>
              <a:tblGrid/>
              <a:tr h="1">
                <a:tc>
                  <a:txBody>
                    <a:bodyPr/>
                    <a:p>
                      <a:r>
                        <a:rPr lang="en-US"/>
                        <a:t/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Option A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Option B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Capital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₹46 crore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₹18 crore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Sorting time saved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70%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40%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Downtime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9 weeks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0 weeks</a:t>
                      </a:r>
                    </a:p>
                  </a:txBody>
                </a:tc>
              </a:tr>
              <a:tr h="1">
                <a:tc>
                  <a:txBody>
                    <a:bodyPr/>
                    <a:p>
                      <a:r>
                        <a:rPr lang="en-US"/>
                        <a:t>Payback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5.2 years</a:t>
                      </a:r>
                    </a:p>
                  </a:txBody>
                </a:tc>
                <a:tc>
                  <a:txBody>
                    <a:bodyPr/>
                    <a:p>
                      <a:r>
                        <a:rPr lang="en-US"/>
                        <a:t>3.1 years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Risks we are worried about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Staff resistance: union meeting is scheduled next month</a:t>
            </a:r>
          </a:p>
          <a:p>
            <a:pPr>
              <a:buChar char="•"/>
            </a:pPr>
            <a:r>
              <a:rPr lang="en-US"/>
              <a:t>Vendor lock-in with a single supplier</a:t>
            </a:r>
          </a:p>
          <a:p>
            <a:pPr>
              <a:buChar char="•"/>
            </a:pPr>
            <a:r>
              <a:rPr lang="en-US"/>
              <a:t>Option B may only postpone the capacity problem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Our recommendation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Start with Option B in Pune</a:t>
            </a:r>
          </a:p>
          <a:p>
            <a:pPr>
              <a:buChar char="•"/>
            </a:pPr>
            <a:r>
              <a:rPr lang="en-US"/>
              <a:t>Review capacity after one full peak season</a:t>
            </a:r>
          </a:p>
          <a:p>
            <a:pPr>
              <a:buChar char="•"/>
            </a:pPr>
            <a:r>
              <a:rPr lang="en-US"/>
              <a:t>Keep Option A as the plan for the 2 largest sites if volume keeps growing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rPr lang="en-US"/>
              <a:t>Questions for the class</a:t>
            </a:r>
          </a:p>
        </p:txBody>
      </p:sp>
      <p:sp>
        <p:nvSpPr>
          <p:cNvPr id="3" name="body"/>
          <p:cNvSpPr/>
          <p:nvPr>
            <p:ph type="body"/>
          </p:nvPr>
        </p:nvSpPr>
        <p:spPr/>
        <p:txBody>
          <a:bodyPr/>
          <a:p>
            <a:pPr>
              <a:buChar char="•"/>
            </a:pPr>
            <a:r>
              <a:rPr lang="en-US"/>
              <a:t>Is faster payback worth the lower ceiling?</a:t>
            </a:r>
          </a:p>
          <a:p>
            <a:pPr>
              <a:buChar char="•"/>
            </a:pPr>
            <a:r>
              <a:rPr lang="en-US"/>
              <a:t>How should Brightpath handle the union conversation?</a:t>
            </a:r>
          </a:p>
        </p:txBody>
      </p:sp>
      <p:sp>
        <p:nvSpPr>
          <p:cNvPr id="20" name="n"/>
          <p:cNvSpPr/>
          <p:nvPr>
            <p:ph type="sldNum"/>
          </p:nvPr>
        </p:nvSpPr>
        <p:spPr/>
        <p:txBody>
          <a:bodyPr/>
          <a:p>
            <a:fld id="{0}" type="slidenum">
              <a:t>‹#›</a:t>
            </a:fld>
          </a:p>
        </p:txBody>
      </p:sp>
    </p:spTree>
  </p:cSld>
</p:sld>
</file>

<file path=docProps/core.xml><?xml version="1.0" encoding="utf-8"?>
<cp:coreProperties xmlns:cp="http://schemas.openxmlformats.org/package/2006/metadata/core-properties" xmlns:dc="http://purl.org/dc/elements/1.1/">
  <dc:title>Should Brightpath automate the Pune warehouse? (fictional)</dc:title>
</cp:coreProperties>
</file>