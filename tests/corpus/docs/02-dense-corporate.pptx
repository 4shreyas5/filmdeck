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</Type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dImg"/>
          <p:cNvSpPr/>
          <p:nvPr>
            <p:ph type="sldImg"/>
          </p:nvPr>
        </p:nvSpPr>
        <p:spPr/>
        <p:txBody>
          <a:bodyPr/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r>
              <a:rPr lang="en-US"/>
              <a:t>Platform migration completes next quarter.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notes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/Relationships>
</file>

<file path=ppt/slides/_rels/slide3.xml.rels><?xml version="1.0" encoding="UTF-8" standalone="yes"?><Relationships xmlns="http://schemas.openxmlformats.org/package/2006/relationships"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/Relationships>
</file>

<file path=ppt/slides/_rels/slide6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trTitle"/>
          <p:cNvSpPr/>
          <p:nvPr>
            <p:ph type="ctrTitle"/>
          </p:nvPr>
        </p:nvSpPr>
        <p:spPr/>
        <p:txBody>
          <a:bodyPr/>
          <a:p>
            <a:r>
              <a:rPr lang="en-US"/>
              <a:t>Orbit Logistics: Q2 operating review</a:t>
            </a:r>
          </a:p>
        </p:txBody>
      </p:sp>
      <p:sp>
        <p:nvSpPr>
          <p:cNvPr id="5" name="Text"/>
          <p:cNvSpPr txBox="1"/>
          <p:nvPr/>
        </p:nvSpPr>
        <p:spPr/>
        <p:txBody>
          <a:bodyPr/>
          <a:p>
            <a:r>
              <a:rPr lang="en-US"/>
              <a:t>Fictional company, fictional figures, for FilmDeck testing</a:t>
            </a:r>
          </a:p>
          <a:p>
            <a:r>
              <a:rPr lang="en-US"/>
              <a:t>Confidential draft</a:t>
            </a:r>
          </a:p>
        </p:txBody>
      </p:sp>
      <p:sp>
        <p:nvSpPr>
          <p:cNvPr id="21" name="ftr"/>
          <p:cNvSpPr/>
          <p:nvPr>
            <p:ph type="ftr"/>
          </p:nvPr>
        </p:nvSpPr>
        <p:spPr/>
        <p:txBody>
          <a:bodyPr/>
          <a:p>
            <a:r>
              <a:rPr lang="en-US"/>
              <a:t>Orbit Logistics | Fictional | Confidential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Operational scorecard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pPr>
              <a:buChar char="•"/>
            </a:pPr>
            <a:r>
              <a:rPr lang="en-US"/>
              <a:t>On-time delivery reached 94.2% against a target of 96%</a:t>
            </a:r>
          </a:p>
          <a:p>
            <a:pPr>
              <a:buChar char="•"/>
            </a:pPr>
            <a:r>
              <a:rPr lang="en-US"/>
              <a:t>Average cost per parcel was $3.41, down from $3.67</a:t>
            </a:r>
          </a:p>
          <a:p>
            <a:pPr>
              <a:buChar char="•"/>
            </a:pPr>
            <a:r>
              <a:rPr lang="en-US"/>
              <a:t>Damage claims fell to 0.8% of parcels</a:t>
            </a:r>
          </a:p>
          <a:p>
            <a:pPr>
              <a:buChar char="•"/>
            </a:pPr>
            <a:r>
              <a:rPr lang="en-US"/>
              <a:t>Driver turnover stayed high at 28% annualised</a:t>
            </a:r>
          </a:p>
          <a:p>
            <a:pPr>
              <a:buChar char="•"/>
            </a:pPr>
            <a:r>
              <a:rPr lang="en-US"/>
              <a:t>Warehouse utilisation averaged 81% across 14 sites</a:t>
            </a:r>
          </a:p>
          <a:p>
            <a:pPr>
              <a:buChar char="•"/>
            </a:pPr>
            <a:r>
              <a:rPr lang="en-US"/>
              <a:t>Customer complaints per 1,000 parcels fell to 5.6</a:t>
            </a:r>
          </a:p>
          <a:p>
            <a:pPr>
              <a:buChar char="•"/>
            </a:pPr>
            <a:r>
              <a:rPr lang="en-US"/>
              <a:t>Fleet fuel use improved by 7% per kilometre</a:t>
            </a:r>
          </a:p>
        </p:txBody>
      </p:sp>
      <p:sp>
        <p:nvSpPr>
          <p:cNvPr id="21" name="ftr"/>
          <p:cNvSpPr/>
          <p:nvPr>
            <p:ph type="ftr"/>
          </p:nvPr>
        </p:nvSpPr>
        <p:spPr/>
        <p:txBody>
          <a:bodyPr/>
          <a:p>
            <a:r>
              <a:rPr lang="en-US"/>
              <a:t>Orbit Logistics | Fictional | Confidential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Regional performance</a:t>
            </a:r>
          </a:p>
        </p:txBody>
      </p:sp>
      <p:graphicFrame>
        <p:nvGraphicFramePr>
          <p:cNvPr id="9" name="Table"/>
          <p:cNvGraphicFramePr/>
          <p:nvPr/>
        </p:nvGraphicFramePr>
        <p:xfrm>
          <a:off x="0" y="0"/>
          <a:ext cx="1" cy="1"/>
        </p:xfrm>
        <a:graphic>
          <a:graphicData uri="http://schemas.openxmlformats.org/drawingml/2006/table">
            <a:tbl>
              <a:tblGrid/>
              <a:tr h="1">
                <a:tc>
                  <a:txBody>
                    <a:bodyPr/>
                    <a:p>
                      <a:r>
                        <a:rPr lang="en-US"/>
                        <a:t>Region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Parcels (M)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On-time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Cost per parcel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Claims</a:t>
                      </a:r>
                    </a:p>
                  </a:txBody>
                </a:tc>
              </a:tr>
              <a:tr h="1">
                <a:tc>
                  <a:txBody>
                    <a:bodyPr/>
                    <a:p>
                      <a:r>
                        <a:rPr lang="en-US"/>
                        <a:t>North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12.4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95.1%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$3.22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0.7%</a:t>
                      </a:r>
                    </a:p>
                  </a:txBody>
                </a:tc>
              </a:tr>
              <a:tr h="1">
                <a:tc>
                  <a:txBody>
                    <a:bodyPr/>
                    <a:p>
                      <a:r>
                        <a:rPr lang="en-US"/>
                        <a:t>South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9.8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93.4%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$3.58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0.9%</a:t>
                      </a:r>
                    </a:p>
                  </a:txBody>
                </a:tc>
              </a:tr>
              <a:tr h="1">
                <a:tc>
                  <a:txBody>
                    <a:bodyPr/>
                    <a:p>
                      <a:r>
                        <a:rPr lang="en-US"/>
                        <a:t>East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7.1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92.8%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$3.71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1.1%</a:t>
                      </a:r>
                    </a:p>
                  </a:txBody>
                </a:tc>
              </a:tr>
              <a:tr h="1">
                <a:tc>
                  <a:txBody>
                    <a:bodyPr/>
                    <a:p>
                      <a:r>
                        <a:rPr lang="en-US"/>
                        <a:t>West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10.3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95.6%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$3.12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0.6%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21" name="ftr"/>
          <p:cNvSpPr/>
          <p:nvPr>
            <p:ph type="ftr"/>
          </p:nvPr>
        </p:nvSpPr>
        <p:spPr/>
        <p:txBody>
          <a:bodyPr/>
          <a:p>
            <a:r>
              <a:rPr lang="en-US"/>
              <a:t>Orbit Logistics | Fictional | Confidential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Cost drivers and mitigation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pPr>
              <a:buChar char="•"/>
            </a:pPr>
            <a:r>
              <a:rPr lang="en-US"/>
              <a:t>Fuel: price volatility offset by route optimisation, saving $1.2M in the quarter</a:t>
            </a:r>
          </a:p>
          <a:p>
            <a:pPr>
              <a:buChar char="•"/>
            </a:pPr>
            <a:r>
              <a:rPr lang="en-US"/>
              <a:t>Labour: overtime fell 11% after the new shift pattern was introduced in the East</a:t>
            </a:r>
          </a:p>
          <a:p>
            <a:pPr>
              <a:buChar char="•"/>
            </a:pPr>
            <a:r>
              <a:rPr lang="en-US"/>
              <a:t>Maintenance: predictive servicing cut unplanned downtime by 18%</a:t>
            </a:r>
          </a:p>
          <a:p>
            <a:pPr>
              <a:buChar char="•"/>
            </a:pPr>
            <a:r>
              <a:rPr lang="en-US"/>
              <a:t>Technology: platform migration is 63% complete and on budget at $4.5M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Risks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pPr>
              <a:buChar char="•"/>
            </a:pPr>
            <a:r>
              <a:rPr lang="en-US"/>
              <a:t>Peak season capacity: forecast demand exceeds capacity by 6% in the final week</a:t>
            </a:r>
          </a:p>
          <a:p>
            <a:pPr>
              <a:buChar char="•"/>
            </a:pPr>
            <a:r>
              <a:rPr lang="en-US"/>
              <a:t>Carrier dependency: two partners carry 40% of long-haul volume</a:t>
            </a:r>
          </a:p>
          <a:p>
            <a:pPr>
              <a:buChar char="•"/>
            </a:pPr>
            <a:r>
              <a:rPr lang="en-US"/>
              <a:t>Regulatory: new emissions rules apply from January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Priorities for next quarter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pPr>
              <a:buChar char="•"/>
            </a:pPr>
            <a:r>
              <a:rPr lang="en-US"/>
              <a:t>Lift on-time delivery to 96%</a:t>
            </a:r>
          </a:p>
          <a:p>
            <a:pPr>
              <a:buChar char="•"/>
            </a:pPr>
            <a:r>
              <a:rPr lang="en-US"/>
              <a:t>Reduce driver turnover below 24%</a:t>
            </a:r>
          </a:p>
          <a:p>
            <a:pPr>
              <a:buChar char="•"/>
            </a:pPr>
            <a:r>
              <a:rPr lang="en-US"/>
              <a:t>Complete the platform migration</a:t>
            </a:r>
          </a:p>
          <a:p>
            <a:pPr>
              <a:buChar char="•"/>
            </a:pPr>
            <a:r>
              <a:rPr lang="en-US"/>
              <a:t>Add peak capacity of 8%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Orbit Logistics operating review (fictional)</dc:title>
</cp:coreProperties>
</file>