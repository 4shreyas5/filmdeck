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</Type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dImg"/>
          <p:cNvSpPr/>
          <p:nvPr>
            <p:ph type="sldImg"/>
          </p:nvPr>
        </p:nvSpPr>
        <p:spPr/>
        <p:txBody>
          <a:bodyPr/>
        </p:txBody>
      </p:sp>
      <p:sp>
        <p:nvSpPr>
          <p:cNvPr id="3" name="body"/>
          <p:cNvSpPr/>
          <p:nvPr>
            <p:ph type="body"/>
          </p:nvPr>
        </p:nvSpPr>
        <p:spPr/>
        <p:txBody>
          <a:bodyPr/>
          <a:p>
            <a:r>
              <a:rPr lang="en-US"/>
              <a:t>Online share crossed 30% for the first time.</a:t>
            </a:r>
          </a:p>
        </p:txBody>
      </p:sp>
      <p:sp>
        <p:nvSpPr>
          <p:cNvPr id="20" name="n"/>
          <p:cNvSpPr/>
          <p:nvPr>
            <p:ph type="sldNum"/>
          </p:nvPr>
        </p:nvSpPr>
        <p:spPr/>
        <p:txBody>
          <a:bodyPr/>
          <a:p>
            <a:fld id="{0}" type="slidenum">
              <a:t>‹#›</a:t>
            </a:fld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dImg"/>
          <p:cNvSpPr/>
          <p:nvPr>
            <p:ph type="sldImg"/>
          </p:nvPr>
        </p:nvSpPr>
        <p:spPr/>
        <p:txBody>
          <a:bodyPr/>
        </p:txBody>
      </p:sp>
      <p:sp>
        <p:nvSpPr>
          <p:cNvPr id="3" name="body"/>
          <p:cNvSpPr/>
          <p:nvPr>
            <p:ph type="body"/>
          </p:nvPr>
        </p:nvSpPr>
        <p:spPr/>
        <p:txBody>
          <a:bodyPr/>
          <a:p>
            <a:r>
              <a:rPr lang="en-US"/>
              <a:t>The closures are phased over two years.</a:t>
            </a:r>
          </a:p>
        </p:txBody>
      </p:sp>
      <p:sp>
        <p:nvSpPr>
          <p:cNvPr id="20" name="n"/>
          <p:cNvSpPr/>
          <p:nvPr>
            <p:ph type="sldNum"/>
          </p:nvPr>
        </p:nvSpPr>
        <p:spPr/>
        <p:txBody>
          <a:bodyPr/>
          <a:p>
            <a:fld id="{0}" type="slidenum">
              <a:t>‹#›</a:t>
            </a:fld>
          </a:p>
        </p:txBody>
      </p:sp>
    </p:spTree>
  </p:cSld>
</p:notes>
</file>

<file path=ppt/slides/_rels/slide1.xml.rels><?xml version="1.0" encoding="UTF-8" standalone="yes"?><Relationships xmlns="http://schemas.openxmlformats.org/package/2006/relationships"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/Relationships>
</file>

<file path=ppt/slides/_rels/slide4.xml.rels><?xml version="1.0" encoding="UTF-8" standalone="yes"?><Relationships xmlns="http://schemas.openxmlformats.org/package/2006/relationships"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trTitle"/>
          <p:cNvSpPr/>
          <p:nvPr>
            <p:ph type="ctrTitle"/>
          </p:nvPr>
        </p:nvSpPr>
        <p:spPr/>
        <p:txBody>
          <a:bodyPr/>
          <a:p>
            <a:r>
              <a:rPr lang="en-US"/>
              <a:t>Halden Retail: store network review</a:t>
            </a:r>
          </a:p>
        </p:txBody>
      </p:sp>
      <p:sp>
        <p:nvSpPr>
          <p:cNvPr id="5" name="Text"/>
          <p:cNvSpPr txBox="1"/>
          <p:nvPr/>
        </p:nvSpPr>
        <p:spPr/>
        <p:txBody>
          <a:bodyPr/>
          <a:p>
            <a:r>
              <a:rPr lang="en-US"/>
              <a:t>Fictional case prepared for FilmDeck testing</a:t>
            </a:r>
          </a:p>
        </p:txBody>
      </p:sp>
      <p:sp>
        <p:nvSpPr>
          <p:cNvPr id="20" name="n"/>
          <p:cNvSpPr/>
          <p:nvPr>
            <p:ph type="sldNum"/>
          </p:nvPr>
        </p:nvSpPr>
        <p:spPr/>
        <p:txBody>
          <a:bodyPr/>
          <a:p>
            <a:fld id="{0}" type="slidenum">
              <a:t>‹#›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rPr lang="en-US"/>
              <a:t>Store sales fell 6% while online sales grew 23%</a:t>
            </a:r>
          </a:p>
        </p:txBody>
      </p:sp>
      <p:sp>
        <p:nvSpPr>
          <p:cNvPr id="3" name="body"/>
          <p:cNvSpPr/>
          <p:nvPr>
            <p:ph type="body"/>
          </p:nvPr>
        </p:nvSpPr>
        <p:spPr/>
        <p:txBody>
          <a:bodyPr/>
          <a:p>
            <a:pPr>
              <a:buChar char="•"/>
            </a:pPr>
            <a:r>
              <a:rPr lang="en-US"/>
              <a:t>Store sales are down 6% year on year</a:t>
            </a:r>
          </a:p>
          <a:p>
            <a:pPr>
              <a:buChar char="•"/>
            </a:pPr>
            <a:r>
              <a:rPr lang="en-US"/>
              <a:t>Online sales are up 23% year on year</a:t>
            </a:r>
          </a:p>
          <a:p>
            <a:pPr>
              <a:buChar char="•"/>
            </a:pPr>
            <a:r>
              <a:rPr lang="en-US"/>
              <a:t>Online now makes up 31% of total sales</a:t>
            </a:r>
          </a:p>
        </p:txBody>
      </p:sp>
      <p:sp>
        <p:nvSpPr>
          <p:cNvPr id="20" name="n"/>
          <p:cNvSpPr/>
          <p:nvPr>
            <p:ph type="sldNum"/>
          </p:nvPr>
        </p:nvSpPr>
        <p:spPr/>
        <p:txBody>
          <a:bodyPr/>
          <a:p>
            <a:fld id="{0}" type="slidenum">
              <a:t>‹#›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rPr lang="en-US"/>
              <a:t>Rent is the largest fixed cost</a:t>
            </a:r>
          </a:p>
        </p:txBody>
      </p:sp>
      <p:graphicFrame>
        <p:nvGraphicFramePr>
          <p:cNvPr id="9" name="Table"/>
          <p:cNvGraphicFramePr/>
          <p:nvPr/>
        </p:nvGraphicFramePr>
        <p:xfrm>
          <a:off x="0" y="0"/>
          <a:ext cx="1" cy="1"/>
        </p:xfrm>
        <a:graphic>
          <a:graphicData uri="http://schemas.openxmlformats.org/drawingml/2006/table">
            <a:tbl>
              <a:tblGrid/>
              <a:tr h="1">
                <a:tc>
                  <a:txBody>
                    <a:bodyPr/>
                    <a:p>
                      <a:r>
                        <a:rPr lang="en-US"/>
                        <a:t>Cost line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Share of costs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Change</a:t>
                      </a:r>
                    </a:p>
                  </a:txBody>
                </a:tc>
              </a:tr>
              <a:tr h="1">
                <a:tc>
                  <a:txBody>
                    <a:bodyPr/>
                    <a:p>
                      <a:r>
                        <a:rPr lang="en-US"/>
                        <a:t>Rent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38%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+4%</a:t>
                      </a:r>
                    </a:p>
                  </a:txBody>
                </a:tc>
              </a:tr>
              <a:tr h="1">
                <a:tc>
                  <a:txBody>
                    <a:bodyPr/>
                    <a:p>
                      <a:r>
                        <a:rPr lang="en-US"/>
                        <a:t>Staff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31%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+2%</a:t>
                      </a:r>
                    </a:p>
                  </a:txBody>
                </a:tc>
              </a:tr>
              <a:tr h="1">
                <a:tc>
                  <a:txBody>
                    <a:bodyPr/>
                    <a:p>
                      <a:r>
                        <a:rPr lang="en-US"/>
                        <a:t>Logistics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14%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+9%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20" name="n"/>
          <p:cNvSpPr/>
          <p:nvPr>
            <p:ph type="sldNum"/>
          </p:nvPr>
        </p:nvSpPr>
        <p:spPr/>
        <p:txBody>
          <a:bodyPr/>
          <a:p>
            <a:fld id="{0}" type="slidenum">
              <a:t>‹#›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rPr lang="en-US"/>
              <a:t>Footfall is falling fastest in small stores</a:t>
            </a:r>
          </a:p>
        </p:txBody>
      </p:sp>
      <p:sp>
        <p:nvSpPr>
          <p:cNvPr id="3" name="body"/>
          <p:cNvSpPr/>
          <p:nvPr>
            <p:ph type="body"/>
          </p:nvPr>
        </p:nvSpPr>
        <p:spPr/>
        <p:txBody>
          <a:bodyPr/>
          <a:p>
            <a:pPr>
              <a:buChar char="•"/>
            </a:pPr>
            <a:r>
              <a:rPr lang="en-US"/>
              <a:t>Small stores lost 14% of visits</a:t>
            </a:r>
          </a:p>
          <a:p>
            <a:pPr>
              <a:buChar char="•"/>
            </a:pPr>
            <a:r>
              <a:rPr lang="en-US"/>
              <a:t>Large stores lost 5% of visits</a:t>
            </a:r>
          </a:p>
          <a:p>
            <a:pPr>
              <a:buChar char="•"/>
            </a:pPr>
            <a:r>
              <a:rPr lang="en-US"/>
              <a:t>Customers still value local pickup</a:t>
            </a:r>
          </a:p>
        </p:txBody>
      </p:sp>
      <p:sp>
        <p:nvSpPr>
          <p:cNvPr id="20" name="n"/>
          <p:cNvSpPr/>
          <p:nvPr>
            <p:ph type="sldNum"/>
          </p:nvPr>
        </p:nvSpPr>
        <p:spPr/>
        <p:txBody>
          <a:bodyPr/>
          <a:p>
            <a:fld id="{0}" type="slidenum">
              <a:t>‹#›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rPr lang="en-US"/>
              <a:t>Recommendation: close weak stores, grow pickup points</a:t>
            </a:r>
          </a:p>
        </p:txBody>
      </p:sp>
      <p:sp>
        <p:nvSpPr>
          <p:cNvPr id="3" name="body"/>
          <p:cNvSpPr/>
          <p:nvPr>
            <p:ph type="body"/>
          </p:nvPr>
        </p:nvSpPr>
        <p:spPr/>
        <p:txBody>
          <a:bodyPr/>
          <a:p>
            <a:pPr>
              <a:buChar char="•"/>
            </a:pPr>
            <a:r>
              <a:rPr lang="en-US"/>
              <a:t>Close 12 of the weakest stores</a:t>
            </a:r>
          </a:p>
          <a:p>
            <a:pPr>
              <a:buChar char="•"/>
            </a:pPr>
            <a:r>
              <a:rPr lang="en-US"/>
              <a:t>Open 40 pickup points near transit</a:t>
            </a:r>
          </a:p>
          <a:p>
            <a:pPr>
              <a:buChar char="•"/>
            </a:pPr>
            <a:r>
              <a:rPr lang="en-US"/>
              <a:t>Reinvest the savings in delivery speed</a:t>
            </a:r>
          </a:p>
        </p:txBody>
      </p:sp>
      <p:sp>
        <p:nvSpPr>
          <p:cNvPr id="20" name="n"/>
          <p:cNvSpPr/>
          <p:nvPr>
            <p:ph type="sldNum"/>
          </p:nvPr>
        </p:nvSpPr>
        <p:spPr/>
        <p:txBody>
          <a:bodyPr/>
          <a:p>
            <a:fld id="{0}" type="slidenum">
              <a:t>‹#›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rPr lang="en-US"/>
              <a:t>Next steps</a:t>
            </a:r>
          </a:p>
        </p:txBody>
      </p:sp>
      <p:sp>
        <p:nvSpPr>
          <p:cNvPr id="3" name="body"/>
          <p:cNvSpPr/>
          <p:nvPr>
            <p:ph type="body"/>
          </p:nvPr>
        </p:nvSpPr>
        <p:spPr/>
        <p:txBody>
          <a:bodyPr/>
          <a:p>
            <a:pPr>
              <a:buChar char="•"/>
            </a:pPr>
            <a:r>
              <a:rPr lang="en-US"/>
              <a:t>Agree the closure list with the board</a:t>
            </a:r>
          </a:p>
          <a:p>
            <a:pPr>
              <a:buChar char="•"/>
            </a:pPr>
            <a:r>
              <a:rPr lang="en-US"/>
              <a:t>Select pickup point sites</a:t>
            </a:r>
          </a:p>
          <a:p>
            <a:pPr>
              <a:buChar char="•"/>
            </a:pPr>
            <a:r>
              <a:rPr lang="en-US"/>
              <a:t>Report progress each quarter</a:t>
            </a:r>
          </a:p>
        </p:txBody>
      </p:sp>
      <p:sp>
        <p:nvSpPr>
          <p:cNvPr id="20" name="n"/>
          <p:cNvSpPr/>
          <p:nvPr>
            <p:ph type="sldNum"/>
          </p:nvPr>
        </p:nvSpPr>
        <p:spPr/>
        <p:txBody>
          <a:bodyPr/>
          <a:p>
            <a:fld id="{0}" type="slidenum">
              <a:t>‹#›</a:t>
            </a:fld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>
  <dc:title>Halden Retail store network review (fictional)</dc:title>
</cp:coreProperties>
</file>